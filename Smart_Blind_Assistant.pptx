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413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B4FD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749040" y="457200"/>
            <a:ext cx="1645920" cy="1645920"/>
          </a:xfrm>
          <a:prstGeom prst="ellipse">
            <a:avLst/>
          </a:prstGeom>
          <a:solidFill>
            <a:srgbClr val="1B4FD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713232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645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Blind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1097280" y="3383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d'Assistance aux Personnes Malvoyantes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88720" y="4160520"/>
            <a:ext cx="1554480" cy="36576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887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Computer Vision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17520" y="4160520"/>
            <a:ext cx="1554480" cy="36576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0175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NLP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4160520"/>
            <a:ext cx="1554480" cy="36576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463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75120" y="4160520"/>
            <a:ext cx="1554480" cy="365760"/>
          </a:xfrm>
          <a:prstGeom prst="rect">
            <a:avLst/>
          </a:prstGeom>
          <a:solidFill>
            <a:srgbClr val="3B82F6">
              <a:alpha val="4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Flutter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Projet S6 – BADO </a:t>
            </a:r>
            <a:r>
              <a:rPr lang="en-US" sz="1100" dirty="0" err="1">
                <a:solidFill>
                  <a:srgbClr val="94A3B8"/>
                </a:solidFill>
              </a:rPr>
              <a:t>Yipenè</a:t>
            </a:r>
            <a:r>
              <a:rPr lang="en-US" sz="1100" dirty="0">
                <a:solidFill>
                  <a:srgbClr val="94A3B8"/>
                </a:solidFill>
              </a:rPr>
              <a:t> Ange Cenacle &amp; ISSOUG El Mehdi — Mai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Problématique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560320" cy="146304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25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4FD8"/>
                </a:solidFill>
              </a:rPr>
              <a:t>+500K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personnes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 err="1">
                <a:solidFill>
                  <a:srgbClr val="64748B"/>
                </a:solidFill>
              </a:rPr>
              <a:t>malvoyantes</a:t>
            </a:r>
            <a:r>
              <a:rPr lang="en-US" sz="1100" dirty="0">
                <a:solidFill>
                  <a:srgbClr val="64748B"/>
                </a:solidFill>
              </a:rPr>
              <a:t> au Maroc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560320" cy="146304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325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4FD8"/>
                </a:solidFill>
              </a:rPr>
              <a:t>61%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rencontrent des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difficultés quotidiennes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234440"/>
            <a:ext cx="2560320" cy="1463040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13258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B4FD8"/>
                </a:solidFill>
              </a:rPr>
              <a:t>0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17920" y="2011680"/>
            <a:ext cx="2560320" cy="6400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solution mobile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complète existante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</a:rPr>
              <a:t>Les défis quotidiens :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201168" cy="201168"/>
          </a:xfrm>
          <a:prstGeom prst="ellipse">
            <a:avLst/>
          </a:prstGeom>
          <a:solidFill>
            <a:srgbClr val="1B4FD8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101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Détecter les obstacles sans voir l'environnement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21608"/>
            <a:ext cx="201168" cy="201168"/>
          </a:xfrm>
          <a:prstGeom prst="ellipse">
            <a:avLst/>
          </a:prstGeom>
          <a:solidFill>
            <a:srgbClr val="1B4FD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941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Retrouver des objets quotidiens égarés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05656"/>
            <a:ext cx="201168" cy="201168"/>
          </a:xfrm>
          <a:prstGeom prst="ellipse">
            <a:avLst/>
          </a:prstGeom>
          <a:solidFill>
            <a:srgbClr val="1B4FD8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782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S'orienter dans son propre domicile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489704"/>
            <a:ext cx="201168" cy="201168"/>
          </a:xfrm>
          <a:prstGeom prst="ellipse">
            <a:avLst/>
          </a:prstGeom>
          <a:solidFill>
            <a:srgbClr val="1B4FD8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622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Appeler à l'aide en cas d'urgence rapidement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D8"/>
                </a:solidFill>
              </a:rPr>
              <a:t>Smart Blind Assistant : un smartphone suffit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719072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9768" y="1828800"/>
            <a:ext cx="594360" cy="594360"/>
          </a:xfrm>
          <a:prstGeom prst="ellipse">
            <a:avLst/>
          </a:prstGeom>
          <a:solidFill>
            <a:srgbClr val="1B4FD8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9202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810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Surveillance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215798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Obstacles détectés en temps réel toutes les 5s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72968" y="1719072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82696" y="182880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36" y="19202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0208" y="1810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Recherche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950208" y="215798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Guider l'utilisateur vers l'objet cherché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25896" y="1719072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35624" y="18288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064" y="19202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03136" y="18105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Localisation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803136" y="2157984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Identifier la pièce courante par l'image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" y="320040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29768" y="3310128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" y="3401568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Navigation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97280" y="36393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Chemin optimal entre deux pièces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172968" y="320040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82696" y="3310128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4136" y="3401568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50208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SOS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950208" y="36393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Alerte d'urgence vocale instantanée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25896" y="3200400"/>
            <a:ext cx="26517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35624" y="3310128"/>
            <a:ext cx="594360" cy="59436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7064" y="3401568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803136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NLP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803136" y="3639312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Compréhension du langage naturel français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Globale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97280"/>
            <a:ext cx="237744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" y="1097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 Flutter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219456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📱 Interface vocale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30552"/>
            <a:ext cx="219456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🎤 STT microphone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569464"/>
            <a:ext cx="219456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🔊 TTS haut-parleur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3008376"/>
            <a:ext cx="219456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📷 Caméra frames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3447288"/>
            <a:ext cx="219456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📳 Vibration SOS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2606040"/>
            <a:ext cx="822960" cy="73152"/>
          </a:xfrm>
          <a:prstGeom prst="rect">
            <a:avLst/>
          </a:prstGeom>
          <a:solidFill>
            <a:srgbClr val="1B4FD8"/>
          </a:solidFill>
          <a:ln/>
        </p:spPr>
      </p:sp>
      <p:sp>
        <p:nvSpPr>
          <p:cNvPr id="13" name="Text 11"/>
          <p:cNvSpPr/>
          <p:nvPr/>
        </p:nvSpPr>
        <p:spPr>
          <a:xfrm>
            <a:off x="2578608" y="2423160"/>
            <a:ext cx="877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B4FD8"/>
                </a:solidFill>
              </a:rPr>
              <a:t>HTTP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B4FD8"/>
                </a:solidFill>
              </a:rPr>
              <a:t>REST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1097280"/>
            <a:ext cx="21945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Backend FastAPI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1691640"/>
            <a:ext cx="201168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🧠 /pipeline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130552"/>
            <a:ext cx="201168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🔍 /find-object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2569464"/>
            <a:ext cx="201168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📍 /where-am-i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008376"/>
            <a:ext cx="201168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⚠️ /detect-obstacle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66160" y="3447288"/>
            <a:ext cx="201168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🆘 /sos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2606040"/>
            <a:ext cx="822960" cy="73152"/>
          </a:xfrm>
          <a:prstGeom prst="rect">
            <a:avLst/>
          </a:prstGeom>
          <a:solidFill>
            <a:srgbClr val="1B4FD8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1097280"/>
            <a:ext cx="22860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83680" y="1097280"/>
            <a:ext cx="22860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097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Modules IA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👁️ YOLOv8 COCO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2130552"/>
            <a:ext cx="210312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🔥 YOLOv8 Custom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2569464"/>
            <a:ext cx="210312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📏 Depth Anything V2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0" y="3008376"/>
            <a:ext cx="210312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💬 SentenceTransformer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3447288"/>
            <a:ext cx="210312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📝 spaCy NLP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017520" y="4736592"/>
            <a:ext cx="3108960" cy="256032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017520" y="47365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Interface Aidant — Streamlit (caregiver.py)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Computer Vision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FD8"/>
                </a:solidFill>
              </a:rPr>
              <a:t>YOLO — Détection d'objets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4048" y="1600200"/>
            <a:ext cx="54864" cy="164592"/>
          </a:xfrm>
          <a:prstGeom prst="rect">
            <a:avLst/>
          </a:prstGeom>
          <a:solidFill>
            <a:srgbClr val="1B4FD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7276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yolov8n.pt — 80 classes COCO (meubles, personnes…)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84048" y="1920240"/>
            <a:ext cx="54864" cy="164592"/>
          </a:xfrm>
          <a:prstGeom prst="rect">
            <a:avLst/>
          </a:prstGeom>
          <a:solidFill>
            <a:srgbClr val="1B4FD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892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best.pt — 4 classes custom : fire, knife, stairs…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84048" y="2240280"/>
            <a:ext cx="54864" cy="164592"/>
          </a:xfrm>
          <a:prstGeom prst="rect">
            <a:avLst/>
          </a:prstGeom>
          <a:solidFill>
            <a:srgbClr val="1B4FD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1284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Exécution parallèle ThreadPoolExecutor → -60% temps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84048" y="2560320"/>
            <a:ext cx="54864" cy="164592"/>
          </a:xfrm>
          <a:prstGeom prst="rect">
            <a:avLst/>
          </a:prstGeom>
          <a:solidFill>
            <a:srgbClr val="1B4F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328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NMS inter-modèles (IoU 0.5) — supprime les doublons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1097280"/>
            <a:ext cx="44805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89120" y="1097280"/>
            <a:ext cx="4480560" cy="41148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Depth Anything V2 — Distance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498848" y="1600200"/>
            <a:ext cx="54864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157276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Carte de profondeur monoculaire — ~50ms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98848" y="1920240"/>
            <a:ext cx="54864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89280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Analyse indices visuels : ombres, perspective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98848" y="2240280"/>
            <a:ext cx="54864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22128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GaussianBlur pour stabiliser les valeurs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98848" y="2560320"/>
            <a:ext cx="54864" cy="1645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25328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3 niveaux : très proche / proche / loin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4320" y="309067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Système d'alertes par priorité 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74320" y="354787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822192"/>
            <a:ext cx="320040" cy="23774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82219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38404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Feu détecté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24912" y="384048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Danger extrême ! Reculez immédiatement !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096512"/>
            <a:ext cx="320040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09651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" y="4114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Couteau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724912" y="411480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Danger ! Soyez prudent !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370832"/>
            <a:ext cx="320040" cy="2377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37083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58368" y="43891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Escaliers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24912" y="438912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Attention ! Arretez-vous !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645152"/>
            <a:ext cx="320040" cy="2377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645152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58368" y="4663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Obstacle proche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24912" y="4663440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Obstacle à votre [direction].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NLP — Compréhension Vocale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399032"/>
            <a:ext cx="512064" cy="512064"/>
          </a:xfrm>
          <a:prstGeom prst="ellipse">
            <a:avLst/>
          </a:prstGeom>
          <a:solidFill>
            <a:srgbClr val="1B4FD8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399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12161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SentenceTransformer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5636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paraphrase-multilingual-MiniLM-L12-v2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1234440"/>
            <a:ext cx="393192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Similarité sémantique avec les exemples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Seuil confiance : 0.72 + marge 0.05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04872"/>
            <a:ext cx="8595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2660904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4780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spaCy fr_core_news_sm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4128" y="282549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Analyse grammaticale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2496312"/>
            <a:ext cx="393192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Détecte le verbe d'intention (chercher→FIND,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aller→NAVIGATE) indépendamment de l'objet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666744"/>
            <a:ext cx="859536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922776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" y="3922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24128" y="37398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Fallback Entité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24128" y="4087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Extraction sémantique YOLO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758184"/>
            <a:ext cx="393192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spaCy extrait le nom → similarité cosinus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vers les 84 classes YOLO (fr→en automatique)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Exemple : </a:t>
            </a:r>
            <a:r>
              <a:rPr lang="en-US" sz="1050" i="1" dirty="0">
                <a:solidFill>
                  <a:srgbClr val="1B4FD8"/>
                </a:solidFill>
              </a:rPr>
              <a:t>"je ne retrouve pas mon lit"</a:t>
            </a:r>
            <a:r>
              <a:rPr lang="en-US" sz="1050" dirty="0">
                <a:solidFill>
                  <a:srgbClr val="1E293B"/>
                </a:solidFill>
              </a:rPr>
              <a:t> → ST score 0.64 &lt; 0.72 → spaCy verbe 'retrouver' → FIND_OBJECT → entité 'lit' → YOLO 'bed'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Navigation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828800" cy="82296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Cuisine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371600"/>
            <a:ext cx="1828800" cy="822960"/>
          </a:xfrm>
          <a:prstGeom prst="rect">
            <a:avLst/>
          </a:prstGeom>
          <a:solidFill>
            <a:srgbClr val="1B4FD8">
              <a:alpha val="85000"/>
            </a:srgbClr>
          </a:solidFill>
          <a:ln w="25400">
            <a:solidFill>
              <a:srgbClr val="1B4F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Couloir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2926080"/>
            <a:ext cx="1828800" cy="822960"/>
          </a:xfrm>
          <a:prstGeom prst="rect">
            <a:avLst/>
          </a:prstGeom>
          <a:solidFill>
            <a:srgbClr val="8B5CF6">
              <a:alpha val="85000"/>
            </a:srgbClr>
          </a:solidFill>
          <a:ln w="254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Salon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371600"/>
            <a:ext cx="1828800" cy="822960"/>
          </a:xfrm>
          <a:prstGeom prst="rect">
            <a:avLst/>
          </a:prstGeom>
          <a:solidFill>
            <a:srgbClr val="F59E0B">
              <a:alpha val="85000"/>
            </a:srgbClr>
          </a:solidFill>
          <a:ln w="254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52160" y="1371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Chambre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2926080"/>
            <a:ext cx="1828800" cy="822960"/>
          </a:xfrm>
          <a:prstGeom prst="rect">
            <a:avLst/>
          </a:prstGeom>
          <a:solidFill>
            <a:srgbClr val="EF4444">
              <a:alpha val="85000"/>
            </a:srgbClr>
          </a:solidFill>
          <a:ln w="254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Salle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 bain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1783080"/>
            <a:ext cx="566928" cy="18288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21808" y="1783080"/>
            <a:ext cx="530352" cy="18288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2194560"/>
            <a:ext cx="18288" cy="749808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194560"/>
            <a:ext cx="18288" cy="749808"/>
          </a:xfrm>
          <a:prstGeom prst="line">
            <a:avLst/>
          </a:prstGeom>
          <a:noFill/>
          <a:ln w="25400">
            <a:solidFill>
              <a:srgbClr val="0A16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913632"/>
            <a:ext cx="411480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39502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D8"/>
                </a:solidFill>
              </a:rPr>
              <a:t>Algorithme BFS (Breadth-First Search)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279392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Trouve le chemin le plus court entre 2 pièces.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La position actuelle est détectée automatiquement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par localizer.py depuis la caméra.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913632"/>
            <a:ext cx="42062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9502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D8"/>
                </a:solidFill>
              </a:rPr>
              <a:t>Directions dynamiques (boussole)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42793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Angles absolus stockés dans house.json.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Flutter envoie le heading (boussole).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Gauche/droite calculés dynamiquement.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Aidant — Streamlit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B4FD8"/>
                </a:solidFill>
              </a:rPr>
              <a:t>Un aidant configure la maison une seule fois — l'utilisateur n'a jamais à toucher un écran.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655064"/>
            <a:ext cx="384048" cy="384048"/>
          </a:xfrm>
          <a:prstGeom prst="ellipse">
            <a:avLst/>
          </a:prstGeom>
          <a:solidFill>
            <a:srgbClr val="1B4FD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Email utilisateur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856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Identifiant unique — validé par regex, converti en nom de fichier (farou@gmail.com → house_farou_gmail_com.json)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04288"/>
            <a:ext cx="384048" cy="38404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249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Ajout des pièces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50545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Cuisine, salon, chambre, couloir, salle de bain… ajoutées une par une avec suppression possible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53512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953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28986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Connexions &amp; Directions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1546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Pour chaque connexion : De → Vers + direction cardinale (Nord/Est/Sud/Ouest). Icônes directionnelles ⬆️➡️⬇️⬅️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602736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547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Aperçu JSON temps réel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80390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Le JSON de configuration est affiché en temps réel avant sauvegarde pour vérification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251960"/>
            <a:ext cx="384048" cy="38404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97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Sauvegarde &amp; Mise à jour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4453128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POST /house/save (premier enregistrement) ou PUT /house/update (modification). Email unique — refus si déjà existant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Flutter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8595360" cy="475488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78992"/>
            <a:ext cx="832104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</a:rPr>
              <a:t>💡 Principe : Flutter est un client passif — il exécute les instructions du backend sans logique métier.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Les 4 modes de l'application 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103120"/>
            <a:ext cx="2011680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Normal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Surveillance obstacles active — bouton blanc mic_none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2103120"/>
            <a:ext cx="2011680" cy="347472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Find Object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50592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Recherche objet — boucle /pipeline toutes les 5s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2103120"/>
            <a:ext cx="2011680" cy="347472"/>
          </a:xfrm>
          <a:prstGeom prst="rect">
            <a:avLst/>
          </a:prstGeom>
          <a:solidFill>
            <a:srgbClr val="1B4FD8">
              <a:alpha val="80000"/>
            </a:srgbClr>
          </a:solidFill>
          <a:ln w="12700">
            <a:solidFill>
              <a:srgbClr val="1B4F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Navigate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Navigation active — instructions vocales dynamiques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03136" y="2103120"/>
            <a:ext cx="2011680" cy="34747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2103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03136" y="2514600"/>
            <a:ext cx="201168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Urgence — écran rouge + vibration forte + alerte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31546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Objet action retourné par le backend 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347472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action.loop + loop_interval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0" y="358444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Rappelle /pipeline dans X secondes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867912"/>
            <a:ext cx="347472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867912"/>
            <a:ext cx="347472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action.stop_obstacle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0" y="38862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Met en pause la détection d'obstacles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169664"/>
            <a:ext cx="347472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169664"/>
            <a:ext cx="347472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action.mode = 'normal'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40480" y="418795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Reprend la surveillance normale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471416"/>
            <a:ext cx="347472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471416"/>
            <a:ext cx="347472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action.vibration = 'strong'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840480" y="448970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Déclenche vibration 1000ms (SOS)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4773168"/>
            <a:ext cx="347472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773168"/>
            <a:ext cx="347472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action.show_emergency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0" y="4791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→ Affiche SosScreen (fond rouge)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— Endpoints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15568"/>
            <a:ext cx="640080" cy="329184"/>
          </a:xfrm>
          <a:prstGeom prst="rect">
            <a:avLst/>
          </a:prstGeom>
          <a:solidFill>
            <a:srgbClr val="1B4FD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155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960120" y="1115568"/>
            <a:ext cx="22860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115568"/>
            <a:ext cx="22860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/pipeline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337560" y="11521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Route centrale — phrase + image → NLP + CV + instructions Flutter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49908"/>
            <a:ext cx="640080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5499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1549908"/>
            <a:ext cx="22860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549908"/>
            <a:ext cx="22860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/detect-obstacle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5864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Surveillance obstacles toutes les 5s — alertes avec priorité 0-5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1984248"/>
            <a:ext cx="640080" cy="3291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9842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1984248"/>
            <a:ext cx="22860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1984248"/>
            <a:ext cx="22860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/find-object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0208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Recherche objet — position + distance + instruction guidage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418588"/>
            <a:ext cx="640080" cy="3291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4185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60120" y="2418588"/>
            <a:ext cx="22860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2418588"/>
            <a:ext cx="22860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/where-am-i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4551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Identification pièce courante — confiance en 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852928"/>
            <a:ext cx="640080" cy="3291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8529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60120" y="2852928"/>
            <a:ext cx="22860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2852928"/>
            <a:ext cx="22860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/navigate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8895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Navigation — détecte pièce actuelle + génère chemin BFS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287268"/>
            <a:ext cx="640080" cy="32918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328726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0120" y="3287268"/>
            <a:ext cx="22860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" y="3287268"/>
            <a:ext cx="22860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37560" y="332384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Alerte urgence — log + simulation appel + retour Flutter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721608"/>
            <a:ext cx="640080" cy="32918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372160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POST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60120" y="3721608"/>
            <a:ext cx="22860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3721608"/>
            <a:ext cx="22860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/house/save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37560" y="37581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Sauvegarde config maison (refusé si email déjà utilisé)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155948"/>
            <a:ext cx="640080" cy="32918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41559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GET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60120" y="4155948"/>
            <a:ext cx="22860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" y="4155948"/>
            <a:ext cx="22860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/house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337560" y="41925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Récupère config maison d'un utilisateur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4590288"/>
            <a:ext cx="640080" cy="32918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5" name="Text 43"/>
          <p:cNvSpPr/>
          <p:nvPr/>
        </p:nvSpPr>
        <p:spPr>
          <a:xfrm>
            <a:off x="274320" y="45902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PUT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60120" y="4590288"/>
            <a:ext cx="2286000" cy="3291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5"/>
          <p:cNvSpPr/>
          <p:nvPr/>
        </p:nvSpPr>
        <p:spPr>
          <a:xfrm>
            <a:off x="960120" y="4590288"/>
            <a:ext cx="2286000" cy="3291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/house/update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337560" y="46268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Mise à jour config maison existante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Techniques &amp; Performance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4206240" cy="347472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9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Depth Anything V2 vs TAILLE_REF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✅ Depth Anything V2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8379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Universel — fonctionne pour tout objet sans liste de référence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43000"/>
            <a:ext cx="4206240" cy="347472"/>
          </a:xfrm>
          <a:prstGeom prst="rect">
            <a:avLst/>
          </a:prstGeom>
          <a:solidFill>
            <a:srgbClr val="1B4FD8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79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BFS vs Dijkstra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FD8"/>
                </a:solidFill>
              </a:rPr>
              <a:t>✅ BFS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379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Connexions de même poids dans une maison — plus simple, même résultat optimal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41448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41448"/>
            <a:ext cx="4206240" cy="347472"/>
          </a:xfrm>
          <a:prstGeom prst="rect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478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ST + spaCy vs ST seul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" y="2852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</a:rPr>
              <a:t>✅ Architecture combinée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3136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spaCy gère les nouveaux objets non vus dans les exemples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441448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441448"/>
            <a:ext cx="4206240" cy="347472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478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Liste statique vs sémantique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28529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✅ Similarité sémantique YOLO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13639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'frigo' → 'refrigerator' sans dictionnaire, extensible à l'infini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39896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39896"/>
            <a:ext cx="4206240" cy="347472"/>
          </a:xfrm>
          <a:prstGeom prst="rect">
            <a:avLst/>
          </a:prstGeom>
          <a:solidFill>
            <a:srgbClr val="EF4444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776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2 YOLO séquentiels vs parallèles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4151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✅ ThreadPoolExecutor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434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-60% de temps : 50-80ms vs 200ms — détection danger + COCO simultanée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739896"/>
            <a:ext cx="4206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739896"/>
            <a:ext cx="4206240" cy="347472"/>
          </a:xfrm>
          <a:prstGeom prst="rect">
            <a:avLst/>
          </a:prstGeom>
          <a:solidFill>
            <a:srgbClr val="0EA5E9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7764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Backend monolithique vs modulaire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4151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</a:rPr>
              <a:t>✅ Architecture modulaire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434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Chaque module indépendant — maintenable, testable, évolutif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&amp; Perspectives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10789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</a:rPr>
              <a:t>Limitations actuelles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01168" cy="201168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YOLO ne détecte pas : clés, lunettes, portefeuille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201168" cy="201168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✗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1975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STT nécessite </a:t>
            </a:r>
            <a:r>
              <a:rPr lang="en-US" sz="1050" dirty="0" err="1">
                <a:solidFill>
                  <a:srgbClr val="1E293B"/>
                </a:solidFill>
              </a:rPr>
              <a:t>connexion</a:t>
            </a:r>
            <a:r>
              <a:rPr lang="en-US" sz="1050" dirty="0">
                <a:solidFill>
                  <a:srgbClr val="1E293B"/>
                </a:solidFill>
              </a:rPr>
              <a:t> internet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432304"/>
            <a:ext cx="201168" cy="201168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432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✗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6928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SOS simulé — pas d'appel téléphonique réel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71216"/>
            <a:ext cx="201168" cy="201168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871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</a:rPr>
              <a:t>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Boussole non intégrée au pipeline Flutter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0789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Améliorations futures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554480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38928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ARCore / ARKit — profondeur centimétrique native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1993392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9933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38928" y="1975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STT offline — Vosk ou Whisper sans internet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46320" y="2432304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432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38928" y="241401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SOS réel — intégration Twilio (appel d'urgence)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2871216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2871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38928" y="28529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flutter_compass — heading boussole dans pipeline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46320" y="3310128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38928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Modèle NLP amélioré — mpnet-base-v2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3749040"/>
            <a:ext cx="201168" cy="201168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3749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138928" y="3730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</a:rPr>
              <a:t>YOLO custom étendu — clés, lunettes, portefeuille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26280" y="1078992"/>
            <a:ext cx="0" cy="384048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FD8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132588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Smart Blind Assistant est une solution complète et opérationnelle qui combine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trois domaines de l'IA pour permettre une autonomie réelle aux personnes malvoyantes.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331720"/>
            <a:ext cx="640080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2331720"/>
            <a:ext cx="62179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🧠  Architecture modulaire — chaque composant indépendant et évolutif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916936"/>
            <a:ext cx="640080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916936"/>
            <a:ext cx="62179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🎯  Interaction 100% vocale — aucun besoin de voir ou toucher l'écran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502152"/>
            <a:ext cx="640080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3502152"/>
            <a:ext cx="62179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🔒  Sécurité active — détection dangers en permanence (feu, couteau...)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4087368"/>
            <a:ext cx="6400800" cy="475488"/>
          </a:xfrm>
          <a:prstGeom prst="rect">
            <a:avLst/>
          </a:prstGeom>
          <a:solidFill>
            <a:srgbClr val="FFFFFF">
              <a:alpha val="12000"/>
            </a:srgbClr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4087368"/>
            <a:ext cx="6217920" cy="475488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⚡  Performance optimisée — modèles en parallèle, singleton thread-safe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0" y="480060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Projet S6 -- BADO </a:t>
            </a:r>
            <a:r>
              <a:rPr lang="en-US" sz="1200" dirty="0" err="1">
                <a:solidFill>
                  <a:srgbClr val="94A3B8"/>
                </a:solidFill>
              </a:rPr>
              <a:t>Yipenè</a:t>
            </a:r>
            <a:r>
              <a:rPr lang="en-US" sz="1200" dirty="0">
                <a:solidFill>
                  <a:srgbClr val="94A3B8"/>
                </a:solidFill>
              </a:rPr>
              <a:t> Ange Cenacle &amp; ISSOUG El Mehdi — Mai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1184</Words>
  <Application>Microsoft Office PowerPoint</Application>
  <PresentationFormat>Affichage à l'écran (16:9)</PresentationFormat>
  <Paragraphs>246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Blind Assistant</dc:title>
  <dc:subject>PptxGenJS Presentation</dc:subject>
  <dc:creator>PptxGenJS</dc:creator>
  <cp:lastModifiedBy>YIPENE ANGE CENACLE BADO</cp:lastModifiedBy>
  <cp:revision>2</cp:revision>
  <dcterms:created xsi:type="dcterms:W3CDTF">2026-06-01T11:58:05Z</dcterms:created>
  <dcterms:modified xsi:type="dcterms:W3CDTF">2026-06-01T12:08:00Z</dcterms:modified>
</cp:coreProperties>
</file>